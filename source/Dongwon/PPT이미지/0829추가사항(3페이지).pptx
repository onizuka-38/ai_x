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326" r:id="rId2"/>
    <p:sldId id="338" r:id="rId3"/>
    <p:sldId id="337" r:id="rId4"/>
  </p:sldIdLst>
  <p:sldSz cx="18288000" cy="10287000"/>
  <p:notesSz cx="6858000" cy="9144000"/>
  <p:embeddedFontLst>
    <p:embeddedFont>
      <p:font typeface="맑은 고딕" panose="020B0503020000020004" pitchFamily="34" charset="-127"/>
      <p:regular r:id="rId6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DEFF5"/>
    <a:srgbClr val="F2F2F2"/>
    <a:srgbClr val="FFFF66"/>
    <a:srgbClr val="FF9900"/>
    <a:srgbClr val="FFCC00"/>
    <a:srgbClr val="FFCC99"/>
    <a:srgbClr val="1A3F6B"/>
    <a:srgbClr val="131933"/>
    <a:srgbClr val="325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23" autoAdjust="0"/>
    <p:restoredTop sz="96279" autoAdjust="0"/>
  </p:normalViewPr>
  <p:slideViewPr>
    <p:cSldViewPr>
      <p:cViewPr varScale="1">
        <p:scale>
          <a:sx n="65" d="100"/>
          <a:sy n="65" d="100"/>
        </p:scale>
        <p:origin x="960" y="66"/>
      </p:cViewPr>
      <p:guideLst>
        <p:guide orient="horz" pos="2248"/>
        <p:guide pos="2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5B7F-7B8A-42A5-9B6B-2D2B2E035833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E74F-0990-4438-8AB4-17B5663E8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4977-EE0E-8F40-03D1-ECCFECC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6DDCBD-904F-7A2A-1B19-B8F669FA245D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4C8E767-B6B5-61A2-B970-6A076008F950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9818E51-5832-920B-DF19-37DB86DFD0D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E26EAD7-E444-C378-737F-6624051D9B92}"/>
              </a:ext>
            </a:extLst>
          </p:cNvPr>
          <p:cNvSpPr txBox="1"/>
          <p:nvPr/>
        </p:nvSpPr>
        <p:spPr>
          <a:xfrm>
            <a:off x="1314000" y="2973213"/>
            <a:ext cx="6722370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2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생성된 </a:t>
            </a:r>
            <a:r>
              <a:rPr lang="en-US" altLang="ko-KR" sz="2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persona</a:t>
            </a:r>
            <a:r>
              <a:rPr lang="ko-KR" altLang="en-US" sz="2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에게 </a:t>
            </a:r>
            <a:r>
              <a:rPr lang="en-US" altLang="ko-KR" sz="2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z="2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제품의 수요를 질문</a:t>
            </a:r>
            <a:endParaRPr lang="en-US" altLang="ko-KR" sz="2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833"/>
              </a:lnSpc>
            </a:pPr>
            <a:endParaRPr lang="en-US" altLang="ko-KR" sz="2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833"/>
              </a:lnSpc>
            </a:pPr>
            <a:r>
              <a:rPr lang="ko-KR" altLang="en-US" sz="2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질문을 여러 번 반복해서 노이즈 제거</a:t>
            </a:r>
            <a:endParaRPr lang="en-US" altLang="ko-KR" sz="2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833"/>
              </a:lnSpc>
            </a:pPr>
            <a:endParaRPr lang="en-US" altLang="ko-KR" sz="2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833"/>
              </a:lnSpc>
            </a:pPr>
            <a:r>
              <a:rPr lang="ko-KR" altLang="en-US" sz="2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답변으로 받은 데이터들을 </a:t>
            </a:r>
            <a:r>
              <a:rPr lang="ko-KR" altLang="en-US" sz="24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취합후</a:t>
            </a:r>
            <a:r>
              <a:rPr lang="ko-KR" altLang="en-US" sz="2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패턴 분석</a:t>
            </a:r>
            <a:endParaRPr lang="en-US" sz="2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E040044-15CA-7502-D268-7E57248D2F8D}"/>
              </a:ext>
            </a:extLst>
          </p:cNvPr>
          <p:cNvSpPr txBox="1"/>
          <p:nvPr/>
        </p:nvSpPr>
        <p:spPr>
          <a:xfrm>
            <a:off x="1206628" y="1813500"/>
            <a:ext cx="501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최종 예측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(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동원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x KAIST competition)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27D754-82D6-235C-4F5D-843EE0E0E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000" y="2623500"/>
            <a:ext cx="6515100" cy="3276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DCC36F-017E-9EE5-BA2D-B9C36E9D0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350" y="6197225"/>
            <a:ext cx="65341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FE3D-1E92-BCAF-F073-C72127B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CBA53F6-E14C-E64D-5575-D97128C693C7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B4EDB50-7D70-A634-051D-87950CD941D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1C8904-DC8F-3672-E694-21D29A36DD3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B9769F5-FAB3-644D-1032-79E95E730C8A}"/>
              </a:ext>
            </a:extLst>
          </p:cNvPr>
          <p:cNvSpPr txBox="1"/>
          <p:nvPr/>
        </p:nvSpPr>
        <p:spPr>
          <a:xfrm>
            <a:off x="1206628" y="2350463"/>
            <a:ext cx="9782372" cy="1815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2000" dirty="0">
                <a:latin typeface="+mn-ea"/>
              </a:rPr>
              <a:t>페르소나 </a:t>
            </a:r>
            <a:r>
              <a:rPr lang="en-US" altLang="ko-KR" sz="2000" dirty="0">
                <a:latin typeface="+mn-ea"/>
              </a:rPr>
              <a:t>Q&amp;A </a:t>
            </a:r>
            <a:r>
              <a:rPr lang="ko-KR" altLang="en-US" sz="2000" dirty="0">
                <a:latin typeface="+mn-ea"/>
              </a:rPr>
              <a:t>결과에서 나온 </a:t>
            </a:r>
            <a:r>
              <a:rPr lang="en-US" altLang="ko-KR" sz="2000" dirty="0">
                <a:latin typeface="+mn-ea"/>
              </a:rPr>
              <a:t>SKU</a:t>
            </a:r>
            <a:r>
              <a:rPr lang="ko-KR" altLang="en-US" sz="2000" dirty="0">
                <a:latin typeface="+mn-ea"/>
              </a:rPr>
              <a:t>별 “월 평균 베이스 수요”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에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월별 계수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계절성</a:t>
            </a:r>
            <a:r>
              <a:rPr lang="en-US" altLang="ko-KR" sz="2000" dirty="0">
                <a:latin typeface="+mn-ea"/>
              </a:rPr>
              <a:t>) × </a:t>
            </a:r>
            <a:r>
              <a:rPr lang="ko-KR" altLang="en-US" sz="2000" dirty="0">
                <a:latin typeface="+mn-ea"/>
              </a:rPr>
              <a:t>광고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프로모션 계수 </a:t>
            </a:r>
            <a:r>
              <a:rPr lang="en-US" altLang="ko-KR" sz="2000" dirty="0">
                <a:latin typeface="+mn-ea"/>
              </a:rPr>
              <a:t>× </a:t>
            </a:r>
            <a:r>
              <a:rPr lang="ko-KR" altLang="en-US" sz="2000" dirty="0">
                <a:latin typeface="+mn-ea"/>
              </a:rPr>
              <a:t>명절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추석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설</a:t>
            </a:r>
            <a:r>
              <a:rPr lang="en-US" altLang="ko-KR" sz="2000" dirty="0">
                <a:latin typeface="+mn-ea"/>
              </a:rPr>
              <a:t>) × </a:t>
            </a:r>
            <a:r>
              <a:rPr lang="ko-KR" altLang="en-US" sz="2000" dirty="0">
                <a:latin typeface="+mn-ea"/>
              </a:rPr>
              <a:t>특수성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카테고리 이벤트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등을 적용해 </a:t>
            </a:r>
            <a:r>
              <a:rPr lang="en-US" altLang="ko-KR" sz="2000" dirty="0">
                <a:latin typeface="+mn-ea"/>
              </a:rPr>
              <a:t>12</a:t>
            </a:r>
            <a:r>
              <a:rPr lang="ko-KR" altLang="en-US" sz="2000" dirty="0">
                <a:latin typeface="+mn-ea"/>
              </a:rPr>
              <a:t>개월 시리즈를 생성</a:t>
            </a:r>
            <a:endParaRPr lang="en-US" altLang="ko-KR" sz="20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이후 제품별 출시일을 고려해서 최종판매량 예측</a:t>
            </a:r>
            <a:endParaRPr lang="en-US" altLang="ko-KR" sz="2000" dirty="0">
              <a:latin typeface="+mn-ea"/>
            </a:endParaRPr>
          </a:p>
          <a:p>
            <a:endParaRPr lang="en-US" altLang="ko-KR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8A9483C-08FC-2EAF-521C-1DE276046E81}"/>
              </a:ext>
            </a:extLst>
          </p:cNvPr>
          <p:cNvSpPr txBox="1"/>
          <p:nvPr/>
        </p:nvSpPr>
        <p:spPr>
          <a:xfrm>
            <a:off x="1206628" y="1813500"/>
            <a:ext cx="501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최종 예측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(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동원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x KAIST competition)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0E6EF2-35C1-D740-A421-E7B31DDFE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22" y="4512911"/>
            <a:ext cx="3772942" cy="32065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BB683BC-CD40-8DA1-CF6C-DA9E6D31F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00" y="4512911"/>
            <a:ext cx="10452024" cy="3206564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B31A701-7434-56D2-97BB-281FF41C5782}"/>
              </a:ext>
            </a:extLst>
          </p:cNvPr>
          <p:cNvSpPr/>
          <p:nvPr/>
        </p:nvSpPr>
        <p:spPr>
          <a:xfrm>
            <a:off x="5464497" y="5574192"/>
            <a:ext cx="1509006" cy="1001870"/>
          </a:xfrm>
          <a:prstGeom prst="rightArrow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072D3AC-5D15-F052-4C38-DFF870749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628" y="7967123"/>
            <a:ext cx="1681505" cy="36217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4EF2EFF-5F83-515D-B7F8-876F34938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35" y="8368083"/>
            <a:ext cx="15689798" cy="100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2079-8559-AEA7-E5CE-760DD7C9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B924113-2A89-D6F7-0F48-D930A85E5F9C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22715F4-F03D-F490-483C-272896DC66C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챗봇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서비스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1B6C357A-51FE-9C34-82C4-1D6F480BBC8C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31CF982-AC86-0EB7-AD08-A5455408C0E3}"/>
              </a:ext>
            </a:extLst>
          </p:cNvPr>
          <p:cNvSpPr txBox="1"/>
          <p:nvPr/>
        </p:nvSpPr>
        <p:spPr>
          <a:xfrm>
            <a:off x="1206627" y="2350463"/>
            <a:ext cx="6002373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목적</a:t>
            </a:r>
            <a:r>
              <a:rPr lang="en-US" altLang="ko-KR" sz="2000" b="1" dirty="0">
                <a:latin typeface="+mn-ea"/>
              </a:rPr>
              <a:t>: </a:t>
            </a:r>
          </a:p>
          <a:p>
            <a:pPr marL="742950" lvl="1" indent="-285750">
              <a:buFontTx/>
              <a:buChar char="-"/>
            </a:pPr>
            <a:r>
              <a:rPr lang="ko-KR" altLang="en-US" sz="2000" dirty="0">
                <a:latin typeface="+mn-ea"/>
              </a:rPr>
              <a:t>식품 맥락에서만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현실적인 가격</a:t>
            </a:r>
            <a:r>
              <a:rPr lang="en-US" altLang="ko-KR" sz="2000" b="1" dirty="0">
                <a:latin typeface="+mn-ea"/>
              </a:rPr>
              <a:t>·</a:t>
            </a:r>
            <a:r>
              <a:rPr lang="ko-KR" altLang="en-US" sz="2000" b="1" dirty="0">
                <a:latin typeface="+mn-ea"/>
              </a:rPr>
              <a:t>수량</a:t>
            </a:r>
            <a:r>
              <a:rPr lang="en-US" altLang="ko-KR" sz="2000" b="1" dirty="0">
                <a:latin typeface="+mn-ea"/>
              </a:rPr>
              <a:t>·</a:t>
            </a:r>
            <a:r>
              <a:rPr lang="ko-KR" altLang="en-US" sz="2000" b="1" dirty="0">
                <a:latin typeface="+mn-ea"/>
              </a:rPr>
              <a:t>톤</a:t>
            </a:r>
            <a:r>
              <a:rPr lang="ko-KR" altLang="en-US" sz="2000" dirty="0">
                <a:latin typeface="+mn-ea"/>
              </a:rPr>
              <a:t>으로 일관된 구매 조언 제공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742950" lvl="1" indent="-285750">
              <a:buFontTx/>
              <a:buChar char="-"/>
            </a:pPr>
            <a:endParaRPr lang="en-US" altLang="ko-KR" sz="20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파이프라인</a:t>
            </a:r>
            <a:r>
              <a:rPr lang="en-US" altLang="ko-KR" sz="2000" b="1" dirty="0">
                <a:latin typeface="+mn-ea"/>
              </a:rPr>
              <a:t>(5</a:t>
            </a:r>
            <a:r>
              <a:rPr lang="ko-KR" altLang="en-US" sz="2000" b="1" dirty="0">
                <a:latin typeface="+mn-ea"/>
              </a:rPr>
              <a:t>단계</a:t>
            </a:r>
            <a:r>
              <a:rPr lang="en-US" altLang="ko-KR" sz="2000" b="1" dirty="0">
                <a:latin typeface="+mn-ea"/>
              </a:rPr>
              <a:t>)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0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 err="1">
                <a:latin typeface="+mn-ea"/>
              </a:rPr>
              <a:t>스코프</a:t>
            </a:r>
            <a:r>
              <a:rPr lang="ko-KR" altLang="en-US" sz="2000" b="1" dirty="0">
                <a:latin typeface="+mn-ea"/>
              </a:rPr>
              <a:t> 게이트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키워드</a:t>
            </a:r>
            <a:r>
              <a:rPr lang="en-US" altLang="ko-KR" sz="2000" dirty="0">
                <a:latin typeface="+mn-ea"/>
              </a:rPr>
              <a:t>+</a:t>
            </a:r>
            <a:r>
              <a:rPr lang="ko-KR" altLang="en-US" sz="2000" dirty="0">
                <a:latin typeface="+mn-ea"/>
              </a:rPr>
              <a:t>소형 </a:t>
            </a:r>
            <a:r>
              <a:rPr lang="en-US" altLang="ko-KR" sz="2000" dirty="0">
                <a:latin typeface="+mn-ea"/>
              </a:rPr>
              <a:t>LLM</a:t>
            </a:r>
            <a:r>
              <a:rPr lang="ko-KR" altLang="en-US" sz="2000" dirty="0">
                <a:latin typeface="+mn-ea"/>
              </a:rPr>
              <a:t>로 </a:t>
            </a:r>
            <a:r>
              <a:rPr lang="en-US" altLang="ko-KR" sz="2000" dirty="0">
                <a:latin typeface="+mn-ea"/>
              </a:rPr>
              <a:t>IN/OUT </a:t>
            </a:r>
            <a:r>
              <a:rPr lang="ko-KR" altLang="en-US" sz="2000" dirty="0">
                <a:latin typeface="+mn-ea"/>
              </a:rPr>
              <a:t>판별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히스토리 정제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 err="1">
                <a:latin typeface="+mn-ea"/>
              </a:rPr>
              <a:t>거절문</a:t>
            </a:r>
            <a:r>
              <a:rPr lang="en-US" altLang="ko-KR" sz="2000" dirty="0">
                <a:latin typeface="+mn-ea"/>
              </a:rPr>
              <a:t>·</a:t>
            </a:r>
            <a:r>
              <a:rPr lang="ko-KR" altLang="en-US" sz="2000" dirty="0" err="1">
                <a:latin typeface="+mn-ea"/>
              </a:rPr>
              <a:t>비맥락</a:t>
            </a:r>
            <a:r>
              <a:rPr lang="ko-KR" altLang="en-US" sz="2000" dirty="0">
                <a:latin typeface="+mn-ea"/>
              </a:rPr>
              <a:t> 발화 제거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거절 연쇄 차단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가격 가드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카테고리 상한 초과 시 </a:t>
            </a:r>
            <a:r>
              <a:rPr lang="en-US" altLang="ko-KR" sz="2000" b="1" dirty="0">
                <a:latin typeface="+mn-ea"/>
              </a:rPr>
              <a:t>0</a:t>
            </a:r>
            <a:r>
              <a:rPr lang="ko-KR" altLang="en-US" sz="2000" b="1" dirty="0">
                <a:latin typeface="+mn-ea"/>
              </a:rPr>
              <a:t>개 </a:t>
            </a:r>
            <a:r>
              <a:rPr lang="en-US" altLang="ko-KR" sz="2000" b="1" dirty="0">
                <a:latin typeface="+mn-ea"/>
              </a:rPr>
              <a:t>+ </a:t>
            </a:r>
            <a:r>
              <a:rPr lang="ko-KR" altLang="en-US" sz="2000" b="1" dirty="0">
                <a:latin typeface="+mn-ea"/>
              </a:rPr>
              <a:t>가격전략</a:t>
            </a:r>
            <a:endParaRPr lang="ko-KR" altLang="en-US" sz="20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수량 가드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가구규모</a:t>
            </a:r>
            <a:r>
              <a:rPr lang="en-US" altLang="ko-KR" sz="2000" dirty="0">
                <a:latin typeface="+mn-ea"/>
              </a:rPr>
              <a:t>×</a:t>
            </a:r>
            <a:r>
              <a:rPr lang="ko-KR" altLang="en-US" sz="2000" dirty="0">
                <a:latin typeface="+mn-ea"/>
              </a:rPr>
              <a:t>카테고리 월 범위로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차 보정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2000" b="1" dirty="0">
                <a:latin typeface="+mn-ea"/>
              </a:rPr>
              <a:t>시스템 프롬프트</a:t>
            </a:r>
            <a:r>
              <a:rPr lang="en-US" altLang="ko-KR" sz="2000" b="1" dirty="0">
                <a:latin typeface="+mn-ea"/>
              </a:rPr>
              <a:t>+LLM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페르소나 톤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저온도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스키마 준수</a:t>
            </a:r>
            <a:endParaRPr lang="en-US" altLang="ko-KR" sz="2000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20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효과 </a:t>
            </a:r>
            <a:r>
              <a:rPr lang="en-US" altLang="ko-KR" sz="2000" b="1" dirty="0">
                <a:latin typeface="+mn-ea"/>
              </a:rPr>
              <a:t>:</a:t>
            </a:r>
            <a:endParaRPr lang="ko-KR" altLang="en-US" sz="2000" dirty="0">
              <a:latin typeface="+mn-ea"/>
            </a:endParaRPr>
          </a:p>
          <a:p>
            <a:pPr marL="800100" lvl="1" indent="-342900">
              <a:buFontTx/>
              <a:buChar char="-"/>
            </a:pPr>
            <a:r>
              <a:rPr lang="ko-KR" altLang="en-US" sz="2000" dirty="0">
                <a:latin typeface="+mn-ea"/>
              </a:rPr>
              <a:t>정확도↑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비현실 응답 차단</a:t>
            </a:r>
            <a:r>
              <a:rPr lang="en-US" altLang="ko-KR" sz="2000" dirty="0">
                <a:latin typeface="+mn-ea"/>
              </a:rPr>
              <a:t>), </a:t>
            </a:r>
            <a:r>
              <a:rPr lang="ko-KR" altLang="en-US" sz="2000" dirty="0">
                <a:latin typeface="+mn-ea"/>
              </a:rPr>
              <a:t>일관성↑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고정 포맷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톤</a:t>
            </a:r>
            <a:r>
              <a:rPr lang="en-US" altLang="ko-KR" sz="2000" dirty="0">
                <a:latin typeface="+mn-ea"/>
              </a:rPr>
              <a:t>),   </a:t>
            </a:r>
            <a:r>
              <a:rPr lang="ko-KR" altLang="en-US" sz="2000" dirty="0">
                <a:latin typeface="+mn-ea"/>
              </a:rPr>
              <a:t>안정성↑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범위 안내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800100" lvl="1" indent="-342900">
              <a:buFontTx/>
              <a:buChar char="-"/>
            </a:pPr>
            <a:endParaRPr lang="en-US" altLang="ko-KR" sz="20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n-ea"/>
              </a:rPr>
              <a:t>“</a:t>
            </a:r>
            <a:r>
              <a:rPr lang="en-US" altLang="ko-KR" sz="2000" dirty="0">
                <a:latin typeface="+mn-ea"/>
              </a:rPr>
              <a:t>500,000</a:t>
            </a:r>
            <a:r>
              <a:rPr lang="ko-KR" altLang="en-US" sz="2000" dirty="0">
                <a:latin typeface="+mn-ea"/>
              </a:rPr>
              <a:t>원 우유</a:t>
            </a:r>
            <a:r>
              <a:rPr lang="en-US" altLang="ko-KR" sz="2000" dirty="0">
                <a:latin typeface="+mn-ea"/>
              </a:rPr>
              <a:t>?” ⇒ </a:t>
            </a:r>
            <a:r>
              <a:rPr lang="ko-KR" altLang="en-US" sz="2000" b="1" dirty="0">
                <a:latin typeface="+mn-ea"/>
              </a:rPr>
              <a:t>가격 가드 발동 → </a:t>
            </a:r>
            <a:r>
              <a:rPr lang="en-US" altLang="ko-KR" sz="2000" b="1" dirty="0">
                <a:latin typeface="+mn-ea"/>
              </a:rPr>
              <a:t>0</a:t>
            </a:r>
            <a:r>
              <a:rPr lang="ko-KR" altLang="en-US" sz="2000" b="1" dirty="0">
                <a:latin typeface="+mn-ea"/>
              </a:rPr>
              <a:t>개 </a:t>
            </a:r>
            <a:r>
              <a:rPr lang="en-US" altLang="ko-KR" sz="2000" b="1" dirty="0">
                <a:latin typeface="+mn-ea"/>
              </a:rPr>
              <a:t>+ </a:t>
            </a:r>
            <a:r>
              <a:rPr lang="ko-KR" altLang="en-US" sz="2000" b="1" dirty="0">
                <a:latin typeface="+mn-ea"/>
              </a:rPr>
              <a:t>대안 제안</a:t>
            </a:r>
            <a:endParaRPr lang="ko-KR" altLang="en-US" sz="2000" dirty="0">
              <a:latin typeface="+mn-ea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64301B1-6DB4-0B7F-3117-0E2ED305156A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챗봇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세부 설계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0C36A3-4047-EA38-AA07-7FC75D90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328" y="2800143"/>
            <a:ext cx="5148000" cy="23103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344763-0DFF-E863-0FA3-664A9DA53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328" y="5513933"/>
            <a:ext cx="5148000" cy="2788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B1513F-EBFD-FB63-F181-C46F98035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000" y="2350463"/>
            <a:ext cx="5113788" cy="44194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2E33E7-09C6-87F9-DF73-BB8269A43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5744" y="6769936"/>
            <a:ext cx="5113788" cy="20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229</Words>
  <Application>Microsoft Office PowerPoint</Application>
  <PresentationFormat>사용자 지정</PresentationFormat>
  <Paragraphs>32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비지니스 사업 제안 발표 프레젠테이션</dc:title>
  <dc:creator>Admin</dc:creator>
  <cp:lastModifiedBy>Admin</cp:lastModifiedBy>
  <cp:revision>77</cp:revision>
  <dcterms:created xsi:type="dcterms:W3CDTF">2006-08-16T00:00:00Z</dcterms:created>
  <dcterms:modified xsi:type="dcterms:W3CDTF">2025-08-29T06:33:21Z</dcterms:modified>
  <dc:identifier>DAGvFTuB4-w</dc:identifier>
</cp:coreProperties>
</file>